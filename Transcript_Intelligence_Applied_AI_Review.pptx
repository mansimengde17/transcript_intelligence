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0d41dcb42f470a" /><Relationship Type="http://schemas.openxmlformats.org/officeDocument/2006/relationships/extended-properties" Target="/docProps/app.xml" Id="Rc7a4509298fa4ba3" /><Relationship Type="http://schemas.openxmlformats.org/officeDocument/2006/relationships/officeDocument" Target="/ppt/presentation.xml" Id="Re1bbcfed405c4f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3eae64579b4bfd"/>
  </p:sldMasterIdLst>
  <p:notesMasterIdLst>
    <p:notesMasterId xmlns:r="http://schemas.openxmlformats.org/officeDocument/2006/relationships" r:id="R8e10f88c1ee34c7f"/>
  </p:notesMasterIdLst>
  <p:sldIdLst>
    <p:sldId xmlns:r="http://schemas.openxmlformats.org/officeDocument/2006/relationships" id="256" r:id="R85c5ca7a2e254d58"/>
    <p:sldId xmlns:r="http://schemas.openxmlformats.org/officeDocument/2006/relationships" id="257" r:id="Rf5d0bd4ff6d44b24"/>
    <p:sldId xmlns:r="http://schemas.openxmlformats.org/officeDocument/2006/relationships" id="258" r:id="Ra7441f1968854877"/>
    <p:sldId xmlns:r="http://schemas.openxmlformats.org/officeDocument/2006/relationships" id="259" r:id="R9f0b5ca00cee4a97"/>
    <p:sldId xmlns:r="http://schemas.openxmlformats.org/officeDocument/2006/relationships" id="260" r:id="R802d97611c94485b"/>
    <p:sldId xmlns:r="http://schemas.openxmlformats.org/officeDocument/2006/relationships" id="261" r:id="R624f7df1812349c2"/>
    <p:sldId xmlns:r="http://schemas.openxmlformats.org/officeDocument/2006/relationships" id="262" r:id="Ra7f2664268b84ee9"/>
    <p:sldId xmlns:r="http://schemas.openxmlformats.org/officeDocument/2006/relationships" id="263" r:id="Ra846b67b59504f9b"/>
    <p:sldId xmlns:r="http://schemas.openxmlformats.org/officeDocument/2006/relationships" id="264" r:id="R32fcc413a15a434e"/>
    <p:sldId xmlns:r="http://schemas.openxmlformats.org/officeDocument/2006/relationships" id="265" r:id="R9872ddea0d1d477b"/>
    <p:sldId xmlns:r="http://schemas.openxmlformats.org/officeDocument/2006/relationships" id="266" r:id="Rdfabaca015294379"/>
    <p:sldId xmlns:r="http://schemas.openxmlformats.org/officeDocument/2006/relationships" id="267" r:id="R54f14c4102bd4f42"/>
    <p:sldId xmlns:r="http://schemas.openxmlformats.org/officeDocument/2006/relationships" id="268" r:id="Ra288caeb0231413c"/>
    <p:sldId xmlns:r="http://schemas.openxmlformats.org/officeDocument/2006/relationships" id="269" r:id="Rb55c6261950e4644"/>
    <p:sldId xmlns:r="http://schemas.openxmlformats.org/officeDocument/2006/relationships" id="270" r:id="R0d0b9856bb2b4bc2"/>
    <p:sldId xmlns:r="http://schemas.openxmlformats.org/officeDocument/2006/relationships" id="271" r:id="Rda5097e584bd43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7e822b8b0e4630" /><Relationship Type="http://schemas.openxmlformats.org/officeDocument/2006/relationships/slideMaster" Target="/ppt/slideMasters/slideMaster1.xml" Id="R233eae64579b4bfd" /><Relationship Type="http://schemas.openxmlformats.org/officeDocument/2006/relationships/notesMaster" Target="/ppt/notesMasters/notesMaster1.xml" Id="R8e10f88c1ee34c7f" /><Relationship Type="http://schemas.openxmlformats.org/officeDocument/2006/relationships/presProps" Target="/ppt/presProps.xml" Id="Rdd2bb21f030045f9" /><Relationship Type="http://schemas.openxmlformats.org/officeDocument/2006/relationships/tableStyles" Target="/ppt/tableStyles.xml" Id="Rf4ce6b926b764592" /><Relationship Type="http://schemas.openxmlformats.org/officeDocument/2006/relationships/slide" Target="/ppt/slides/slide1.xml" Id="R85c5ca7a2e254d58" /><Relationship Type="http://schemas.openxmlformats.org/officeDocument/2006/relationships/slide" Target="/ppt/slides/slide2.xml" Id="Rf5d0bd4ff6d44b24" /><Relationship Type="http://schemas.openxmlformats.org/officeDocument/2006/relationships/slide" Target="/ppt/slides/slide3.xml" Id="Ra7441f1968854877" /><Relationship Type="http://schemas.openxmlformats.org/officeDocument/2006/relationships/slide" Target="/ppt/slides/slide4.xml" Id="R9f0b5ca00cee4a97" /><Relationship Type="http://schemas.openxmlformats.org/officeDocument/2006/relationships/slide" Target="/ppt/slides/slide5.xml" Id="R802d97611c94485b" /><Relationship Type="http://schemas.openxmlformats.org/officeDocument/2006/relationships/slide" Target="/ppt/slides/slide6.xml" Id="R624f7df1812349c2" /><Relationship Type="http://schemas.openxmlformats.org/officeDocument/2006/relationships/slide" Target="/ppt/slides/slide7.xml" Id="Ra7f2664268b84ee9" /><Relationship Type="http://schemas.openxmlformats.org/officeDocument/2006/relationships/slide" Target="/ppt/slides/slide8.xml" Id="Ra846b67b59504f9b" /><Relationship Type="http://schemas.openxmlformats.org/officeDocument/2006/relationships/slide" Target="/ppt/slides/slide9.xml" Id="R32fcc413a15a434e" /><Relationship Type="http://schemas.openxmlformats.org/officeDocument/2006/relationships/slide" Target="/ppt/slides/slide10.xml" Id="R9872ddea0d1d477b" /><Relationship Type="http://schemas.openxmlformats.org/officeDocument/2006/relationships/slide" Target="/ppt/slides/slide11.xml" Id="Rdfabaca015294379" /><Relationship Type="http://schemas.openxmlformats.org/officeDocument/2006/relationships/slide" Target="/ppt/slides/slide12.xml" Id="R54f14c4102bd4f42" /><Relationship Type="http://schemas.openxmlformats.org/officeDocument/2006/relationships/slide" Target="/ppt/slides/slide13.xml" Id="Ra288caeb0231413c" /><Relationship Type="http://schemas.openxmlformats.org/officeDocument/2006/relationships/slide" Target="/ppt/slides/slide14.xml" Id="Rb55c6261950e4644" /><Relationship Type="http://schemas.openxmlformats.org/officeDocument/2006/relationships/slide" Target="/ppt/slides/slide15.xml" Id="R0d0b9856bb2b4bc2" /><Relationship Type="http://schemas.openxmlformats.org/officeDocument/2006/relationships/slide" Target="/ppt/slides/slide16.xml" Id="Rda5097e584bd43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e5ba73ac2b48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d87e0c0889462c" /><Relationship Type="http://schemas.openxmlformats.org/officeDocument/2006/relationships/notesMaster" Target="/ppt/notesMasters/notesMaster1.xml" Id="R1a464eb0e20540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e926c88ef54c22" /><Relationship Type="http://schemas.openxmlformats.org/officeDocument/2006/relationships/notesMaster" Target="/ppt/notesMasters/notesMaster1.xml" Id="R3f551300b06449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cbf71128364434" /><Relationship Type="http://schemas.openxmlformats.org/officeDocument/2006/relationships/notesMaster" Target="/ppt/notesMasters/notesMaster1.xml" Id="R8f7d298645d848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f58ca349244c93" /><Relationship Type="http://schemas.openxmlformats.org/officeDocument/2006/relationships/notesMaster" Target="/ppt/notesMasters/notesMaster1.xml" Id="R405671a97c5545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a6f7c2e94f4d7b" /><Relationship Type="http://schemas.openxmlformats.org/officeDocument/2006/relationships/notesMaster" Target="/ppt/notesMasters/notesMaster1.xml" Id="R81adcb8332ca48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b092a424524db7" /><Relationship Type="http://schemas.openxmlformats.org/officeDocument/2006/relationships/notesMaster" Target="/ppt/notesMasters/notesMaster1.xml" Id="R49149cc9b22547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9eac6e1620439e" /><Relationship Type="http://schemas.openxmlformats.org/officeDocument/2006/relationships/notesMaster" Target="/ppt/notesMasters/notesMaster1.xml" Id="Re9b1060293db4c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f6eff4ba9848ec" /><Relationship Type="http://schemas.openxmlformats.org/officeDocument/2006/relationships/notesMaster" Target="/ppt/notesMasters/notesMaster1.xml" Id="R66ab45d7691642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4873ad5f0c4795" /><Relationship Type="http://schemas.openxmlformats.org/officeDocument/2006/relationships/notesMaster" Target="/ppt/notesMasters/notesMaster1.xml" Id="Rfa4dd36afbdc43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e33aaedb824ab7" /><Relationship Type="http://schemas.openxmlformats.org/officeDocument/2006/relationships/notesMaster" Target="/ppt/notesMasters/notesMaster1.xml" Id="Rc7bc73e7215246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9fb98c0b4b470c" /><Relationship Type="http://schemas.openxmlformats.org/officeDocument/2006/relationships/notesMaster" Target="/ppt/notesMasters/notesMaster1.xml" Id="R9a877392d9054a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3ab8a21e664536" /><Relationship Type="http://schemas.openxmlformats.org/officeDocument/2006/relationships/notesMaster" Target="/ppt/notesMasters/notesMaster1.xml" Id="R01871930ca0140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385f55dbe14981" /><Relationship Type="http://schemas.openxmlformats.org/officeDocument/2006/relationships/notesMaster" Target="/ppt/notesMasters/notesMaster1.xml" Id="Rcc18c916a9ef42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f729082d294c36" /><Relationship Type="http://schemas.openxmlformats.org/officeDocument/2006/relationships/notesMaster" Target="/ppt/notesMasters/notesMaster1.xml" Id="R3cf671a566424f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0c0c55fd274b61" /><Relationship Type="http://schemas.openxmlformats.org/officeDocument/2006/relationships/notesMaster" Target="/ppt/notesMasters/notesMaster1.xml" Id="R43b08234aa1344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ad3a0769b94e72" /><Relationship Type="http://schemas.openxmlformats.org/officeDocument/2006/relationships/notesMaster" Target="/ppt/notesMasters/notesMaster1.xml" Id="Rc6e837622a5747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206798d3d4d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8af31bc4d47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f852f5e4646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ecf2863df49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ff5588e6248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916cea17254e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42AC74-081A-42E2-B4A0-F7628BC902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A32AC1-D1F9-42B7-B201-6D996E5C48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7A1A49-632D-4832-9E72-0CDF117BEB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DE3F38-3979-4F04-B53A-1159C2788D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111729-0884-4C75-90A6-BB16D185E1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8C3403-4D77-4A0F-938C-5ABA9AC921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195092-8489-4B0F-913C-11A2711AEA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FD15AB-C23D-4EC2-8CA7-657EB28BDD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B127DF-4A98-4AE2-8E95-6290165D6C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555B59-2B3B-4340-B5DB-79BD799158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37f432a8454cbc" /><Relationship Type="http://schemas.openxmlformats.org/officeDocument/2006/relationships/slideLayout" Target="/ppt/slideLayouts/slideLayout1.xml" Id="R48c75a67ec8545bc" /><Relationship Type="http://schemas.openxmlformats.org/officeDocument/2006/relationships/slideLayout" Target="/ppt/slideLayouts/slideLayout2.xml" Id="R5f91a2f147974108" /><Relationship Type="http://schemas.openxmlformats.org/officeDocument/2006/relationships/slideLayout" Target="/ppt/slideLayouts/slideLayout3.xml" Id="R501d3438201b4569" /><Relationship Type="http://schemas.openxmlformats.org/officeDocument/2006/relationships/slideLayout" Target="/ppt/slideLayouts/slideLayout4.xml" Id="R897723ba92b846e1" /><Relationship Type="http://schemas.openxmlformats.org/officeDocument/2006/relationships/slideLayout" Target="/ppt/slideLayouts/slideLayout5.xml" Id="R89011609c8d24ffa" /><Relationship Type="http://schemas.openxmlformats.org/officeDocument/2006/relationships/slideLayout" Target="/ppt/slideLayouts/slideLayout6.xml" Id="Rd0173cc584cf43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c75a67ec8545bc"/>
    <p:sldLayoutId xmlns:r="http://schemas.openxmlformats.org/officeDocument/2006/relationships" id="2147483650" r:id="R5f91a2f147974108"/>
    <p:sldLayoutId xmlns:r="http://schemas.openxmlformats.org/officeDocument/2006/relationships" id="2147483651" r:id="R501d3438201b4569"/>
    <p:sldLayoutId xmlns:r="http://schemas.openxmlformats.org/officeDocument/2006/relationships" id="2147483652" r:id="R897723ba92b846e1"/>
    <p:sldLayoutId xmlns:r="http://schemas.openxmlformats.org/officeDocument/2006/relationships" id="2147483653" r:id="R89011609c8d24ffa"/>
    <p:sldLayoutId xmlns:r="http://schemas.openxmlformats.org/officeDocument/2006/relationships" id="2147483654" r:id="Rd0173cc584cf43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9ab75a80b4618" /><Relationship Type="http://schemas.openxmlformats.org/officeDocument/2006/relationships/notesSlide" Target="/ppt/notesSlides/notesSlide1.xml" Id="Raa33dbe6598749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af8c5c26d6406c" /><Relationship Type="http://schemas.openxmlformats.org/officeDocument/2006/relationships/notesSlide" Target="/ppt/notesSlides/notesSlide2.xml" Id="Rd1366c5854b342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9ea9a3fb94eb4" /><Relationship Type="http://schemas.openxmlformats.org/officeDocument/2006/relationships/notesSlide" Target="/ppt/notesSlides/notesSlide3.xml" Id="R52b33660a4a246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cea1808cd94e6b" /><Relationship Type="http://schemas.openxmlformats.org/officeDocument/2006/relationships/chart" Target="/ppt/slides/charts/chart1.xml" Id="Reb05c6d660574409" /><Relationship Type="http://schemas.openxmlformats.org/officeDocument/2006/relationships/notesSlide" Target="/ppt/notesSlides/notesSlide4.xml" Id="R58de3bcc27264a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840d9fe414c8f" /><Relationship Type="http://schemas.openxmlformats.org/officeDocument/2006/relationships/notesSlide" Target="/ppt/notesSlides/notesSlide5.xml" Id="R6ae34d19fd224a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b910a1dd74fef" /><Relationship Type="http://schemas.openxmlformats.org/officeDocument/2006/relationships/chart" Target="/ppt/slides/charts/chart2.xml" Id="Rbf5acd3e308f4273" /><Relationship Type="http://schemas.openxmlformats.org/officeDocument/2006/relationships/notesSlide" Target="/ppt/notesSlides/notesSlide6.xml" Id="Rd1ea32e16ccc41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b214d1674746e3" /><Relationship Type="http://schemas.openxmlformats.org/officeDocument/2006/relationships/chart" Target="/ppt/slides/charts/chart3.xml" Id="R8fcd8705ded048a1" /><Relationship Type="http://schemas.openxmlformats.org/officeDocument/2006/relationships/notesSlide" Target="/ppt/notesSlides/notesSlide7.xml" Id="R799813e45c794a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ccc693d5dd427e" /><Relationship Type="http://schemas.openxmlformats.org/officeDocument/2006/relationships/notesSlide" Target="/ppt/notesSlides/notesSlide8.xml" Id="R793ca591e4654a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02c875fcc47ab" /><Relationship Type="http://schemas.openxmlformats.org/officeDocument/2006/relationships/chart" Target="/ppt/slides/charts/chart4.xml" Id="R4b26016292c143ca" /><Relationship Type="http://schemas.openxmlformats.org/officeDocument/2006/relationships/notesSlide" Target="/ppt/notesSlides/notesSlide9.xml" Id="Re85620d2826d48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63d4e57fd4f96" /><Relationship Type="http://schemas.openxmlformats.org/officeDocument/2006/relationships/notesSlide" Target="/ppt/notesSlides/notesSlide10.xml" Id="R9bfc7a8f389f45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ff7d5b96d405f" /><Relationship Type="http://schemas.openxmlformats.org/officeDocument/2006/relationships/notesSlide" Target="/ppt/notesSlides/notesSlide11.xml" Id="R3619393a260445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df463b765478d" /><Relationship Type="http://schemas.openxmlformats.org/officeDocument/2006/relationships/notesSlide" Target="/ppt/notesSlides/notesSlide12.xml" Id="R6d7ce86536c74f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2bc4d4e694d1f" /><Relationship Type="http://schemas.openxmlformats.org/officeDocument/2006/relationships/notesSlide" Target="/ppt/notesSlides/notesSlide13.xml" Id="R10d71065febe41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99237f10a4e1f" /><Relationship Type="http://schemas.openxmlformats.org/officeDocument/2006/relationships/notesSlide" Target="/ppt/notesSlides/notesSlide14.xml" Id="R42e17235dbdb4e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8fae010d84766" /><Relationship Type="http://schemas.openxmlformats.org/officeDocument/2006/relationships/notesSlide" Target="/ppt/notesSlides/notesSlide15.xml" Id="R53db24ba1d5948c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b8df98f39245fc" /><Relationship Type="http://schemas.openxmlformats.org/officeDocument/2006/relationships/notesSlide" Target="/ppt/notesSlides/notesSlide16.xml" Id="R8cfa96a01bca47b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Meetings</c:v>
          </c:tx>
          <c:spPr>
            <a:solidFill xmlns:a="http://schemas.openxmlformats.org/drawingml/2006/main">
              <a:srgbClr val="2F6BFF"/>
            </a:solidFill>
          </c:spPr>
          <c:invertIfNegative val="0"/>
          <c:dPt>
            <c:idx val="2"/>
            <c:invertIfNegative val="0"/>
            <c:spPr>
              <a:solidFill xmlns:a="http://schemas.openxmlformats.org/drawingml/2006/main">
                <a:srgbClr val="4CB5AE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E45B5B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Product planning &amp; delivery</c:v>
                </c:pt>
                <c:pt idx="1">
                  <c:v>Product adoption &amp; launch</c:v>
                </c:pt>
                <c:pt idx="2">
                  <c:v>Identity &amp; access</c:v>
                </c:pt>
                <c:pt idx="3">
                  <c:v>Commercial &amp; renewal</c:v>
                </c:pt>
                <c:pt idx="4">
                  <c:v>Compliance &amp; reporting</c:v>
                </c:pt>
                <c:pt idx="5">
                  <c:v>Reliability &amp; incidents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7</c:v>
                </c:pt>
                <c:pt idx="1">
                  <c:v>9</c:v>
                </c:pt>
                <c:pt idx="2">
                  <c:v>12</c:v>
                </c:pt>
                <c:pt idx="3">
                  <c:v>13</c:v>
                </c:pt>
                <c:pt idx="4">
                  <c:v>17</c:v>
                </c:pt>
                <c:pt idx="5">
                  <c:v>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72B3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Average sentiment</c:v>
          </c:tx>
          <c:spPr>
            <a:solidFill xmlns:a="http://schemas.openxmlformats.org/drawingml/2006/main">
              <a:srgbClr val="2F6BFF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4CB5A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45B5B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External</c:v>
                </c:pt>
                <c:pt idx="1">
                  <c:v>Internal</c:v>
                </c:pt>
                <c:pt idx="2">
                  <c:v>Support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3.9</c:v>
                </c:pt>
                <c:pt idx="1">
                  <c:v>3.42</c:v>
                </c:pt>
                <c:pt idx="2">
                  <c:v>2.8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72B3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External</c:v>
          </c:tx>
          <c:spPr>
            <a:ln xmlns:a="http://schemas.openxmlformats.org/drawingml/2006/main" w="28575">
              <a:solidFill>
                <a:srgbClr val="2F6BFF"/>
              </a:solidFill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2F6BFF"/>
              </a:solidFill>
            </c:spPr>
          </c:marker>
          <c:cat>
            <c:strRef>
              <c:f>'Chart Data'!$A$2:$A$4</c:f>
              <c:strCache>
                <c:ptCount val="3"/>
                <c:pt idx="0">
                  <c:v>Feb 2026</c:v>
                </c:pt>
                <c:pt idx="1">
                  <c:v>Mar 2026</c:v>
                </c:pt>
                <c:pt idx="2">
                  <c:v>Apr 2026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4.26</c:v>
                </c:pt>
                <c:pt idx="1">
                  <c:v>3.23</c:v>
                </c:pt>
                <c:pt idx="2">
                  <c:v>4.15</c:v>
                </c:pt>
              </c:numCache>
            </c:numRef>
          </c:val>
          <c:smooth val="0"/>
        </c:ser>
        <c:ser>
          <c:idx val="1"/>
          <c:order val="1"/>
          <c:tx>
            <c:v>Internal</c:v>
          </c:tx>
          <c:spPr>
            <a:ln xmlns:a="http://schemas.openxmlformats.org/drawingml/2006/main" w="28575">
              <a:solidFill>
                <a:srgbClr val="4CB5AE"/>
              </a:solidFill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4CB5AE"/>
              </a:solidFill>
            </c:spPr>
          </c:marker>
          <c:cat>
            <c:strRef>
              <c:f>'Chart Data'!$C$2:$C$4</c:f>
              <c:strCache>
                <c:ptCount val="3"/>
                <c:pt idx="0">
                  <c:v>Feb 2026</c:v>
                </c:pt>
                <c:pt idx="1">
                  <c:v>Mar 2026</c:v>
                </c:pt>
                <c:pt idx="2">
                  <c:v>Apr 2026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3.76</c:v>
                </c:pt>
                <c:pt idx="1">
                  <c:v>2.64</c:v>
                </c:pt>
                <c:pt idx="2">
                  <c:v>3.85</c:v>
                </c:pt>
              </c:numCache>
            </c:numRef>
          </c:val>
          <c:smooth val="0"/>
        </c:ser>
        <c:ser>
          <c:idx val="2"/>
          <c:order val="2"/>
          <c:tx>
            <c:v>Support</c:v>
          </c:tx>
          <c:spPr>
            <a:ln xmlns:a="http://schemas.openxmlformats.org/drawingml/2006/main" w="28575">
              <a:solidFill>
                <a:srgbClr val="E45B5B"/>
              </a:solidFill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E45B5B"/>
              </a:solidFill>
            </c:spPr>
          </c:marker>
          <c:cat>
            <c:strRef>
              <c:f>'Chart Data'!$E$2:$E$4</c:f>
              <c:strCache>
                <c:ptCount val="3"/>
                <c:pt idx="0">
                  <c:v>Feb 2026</c:v>
                </c:pt>
                <c:pt idx="1">
                  <c:v>Mar 2026</c:v>
                </c:pt>
                <c:pt idx="2">
                  <c:v>Apr 2026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2.89</c:v>
                </c:pt>
                <c:pt idx="1">
                  <c:v>2.49</c:v>
                </c:pt>
                <c:pt idx="2">
                  <c:v>3.21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72B3A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Risk score</c:v>
          </c:tx>
          <c:spPr>
            <a:solidFill xmlns:a="http://schemas.openxmlformats.org/drawingml/2006/main">
              <a:srgbClr val="E45B5B"/>
            </a:solidFill>
          </c:spPr>
          <c:invertIfNegative val="0"/>
          <c:cat>
            <c:strRef>
              <c:f>'Chart Data'!$A$2:$A$11</c:f>
              <c:strCache>
                <c:ptCount val="10"/>
                <c:pt idx="0">
                  <c:v>Trailhead</c:v>
                </c:pt>
                <c:pt idx="1">
                  <c:v>Northstar Pharma</c:v>
                </c:pt>
                <c:pt idx="2">
                  <c:v>Crestline Wealth</c:v>
                </c:pt>
                <c:pt idx="3">
                  <c:v>Blackridge</c:v>
                </c:pt>
                <c:pt idx="4">
                  <c:v>Coastal Living</c:v>
                </c:pt>
                <c:pt idx="5">
                  <c:v>Stratos Cloud</c:v>
                </c:pt>
                <c:pt idx="6">
                  <c:v>Cobalt Software</c:v>
                </c:pt>
                <c:pt idx="7">
                  <c:v>Helix Data</c:v>
                </c:pt>
                <c:pt idx="8">
                  <c:v>Summit Trust</c:v>
                </c:pt>
                <c:pt idx="9">
                  <c:v>Vanta Health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10</c:v>
                </c:pt>
                <c:pt idx="1">
                  <c:v>9</c:v>
                </c:pt>
                <c:pt idx="2">
                  <c:v>9</c:v>
                </c:pt>
                <c:pt idx="3">
                  <c:v>8.8</c:v>
                </c:pt>
                <c:pt idx="4">
                  <c:v>8.4</c:v>
                </c:pt>
                <c:pt idx="5">
                  <c:v>7.6</c:v>
                </c:pt>
                <c:pt idx="6">
                  <c:v>7.4</c:v>
                </c:pt>
                <c:pt idx="7">
                  <c:v>7.4</c:v>
                </c:pt>
                <c:pt idx="8">
                  <c:v>7.2</c:v>
                </c:pt>
                <c:pt idx="9">
                  <c:v>7.2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D20D1-5F94-4D13-995C-C2D6967C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5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C0531-C8AA-4053-9928-FA71D17E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Transcript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3C513-8A40-4D31-9EC1-C2674466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A governed agent system for evidence, customer risk, and enterprise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25C78-683A-4FB8-A812-C022FFCF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Leadership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F254F-05A7-4EE6-B845-C36BA014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9CBD9"/>
                </a:solidFill>
                <a:latin typeface="Avenir Next"/>
                <a:ea typeface="Avenir Next"/>
                <a:cs typeface="Avenir Next"/>
              </a:rPr>
              <a:t>100 meetings  |  4,313 utterances  |  Feb-Apr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2D901-311C-439B-856D-C1BC5FA3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ECB96-FDBD-49DF-B1A9-005368D5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6668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4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4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4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4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4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4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4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4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4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4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4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06736-F4F3-4C55-8EC9-7D1FC30F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support calls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671CB-058D-468D-B6B3-EF1E78D6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004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A0D26-5FFF-443D-BEBB-BEFCE831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71875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6A84B-74C2-4360-AA3D-FF4B6902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386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external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771FF-C967-4250-AE50-57FDF94C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62500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AE573-F67B-4F95-9D3C-E982CD0B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57497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C9816-1B04-4000-BD83-B67588FF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Support is the pressure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0BCF7-D209-4B74-8BEE-01E7756D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Three findings that should shape the first product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9CB09-083A-4088-A146-B01491CC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6D5A4-F8A3-4E47-B563-241F3785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FEEB4-B336-41A6-9DE9-7953E82D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40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40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40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40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40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40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40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40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40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2.80/5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E53EA-456A-499F-B75F-57EE2BDB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Support sentiment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73FD0-4FD5-4767-A454-C4FA7F0B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More than one point below external relationship calls.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6EB4F-DC58-45A9-B3DC-EAAFF117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5737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40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40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40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40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40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40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40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40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40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BC8B9-2D9D-4EF4-BACF-FA155A71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384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Reliability meetings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87478-16EC-4040-8752-0C5F852A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Twelve internal, nine support, and three external conversations.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0BEE2-4DC1-4431-97C8-E5908BB1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5737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E6A23C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4050" b="1">
                <a:solidFill>
                  <a:srgbClr val="E6A23C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4050" b="1">
                <a:solidFill>
                  <a:srgbClr val="E6A23C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4050" b="1">
                <a:solidFill>
                  <a:srgbClr val="E6A23C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4050" b="1">
                <a:solidFill>
                  <a:srgbClr val="E6A23C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4050" b="1">
                <a:solidFill>
                  <a:srgbClr val="E6A23C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4050" b="1">
                <a:solidFill>
                  <a:srgbClr val="E6A23C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4050" b="1">
                <a:solidFill>
                  <a:srgbClr val="E6A23C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4050" b="1">
                <a:solidFill>
                  <a:srgbClr val="E6A23C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4050" b="1">
                <a:solidFill>
                  <a:srgbClr val="E6A23C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E6A23C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E6A23C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C9CC6-1D00-4FE1-A996-3CA6ACEE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384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Accounts at high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ED288-5601-4842-BD73-C671B30F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At least one meeting scored 6 or higher on the evidence-priority scale.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36F6C-C0BF-412D-8B9D-86A8271D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49763-C185-45C7-8E31-A135E22B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Leadership implication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6B976-32E9-4858-A5CB-057664BA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>
            <a:def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Connect support evidence to incident response and account planning before the next renewal conversation.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324E6-BE6F-4DE8-8C67-1AE9FAFC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Source: supplied transcript dataset; analysis by the included pipeline</a:t>
            </a:r>
          </a:p>
        </p:txBody>
      </p:sp>
    </p:spTree>
    <p:extLst>
      <p:ext uri="{BB962C8B-B14F-4D97-AF65-F5344CB8AC3E}">
        <p14:creationId xmlns:p14="http://schemas.microsoft.com/office/powerpoint/2010/main" val="1396824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377CE-C6BB-4F39-8ECC-9529AF8E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 governed pipeline keeps every decision auditable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7E9A0-B4B5-4966-A5EF-D56AC834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Deterministic controls surround agent reasoning and retrieval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D1F8B-B4E0-457A-BDC4-16FD5D8D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29E67-26DF-4024-AE9D-3EF6E77A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08546-8EEF-40C6-B474-10FBFE5B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2BB2F-1559-42B7-87E6-E57BE82E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9B33B-B8B7-4D74-BD49-B77BA476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5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EB8FF-12B0-48A6-99D0-DF1E95F4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Six JSON files per meeting</a:t>
            </a:r>
          </a:p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Immutable hashes preserve lineage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DF856-418A-4563-87FA-8F315EC8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57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59329-AB9D-4834-9DCD-7C82536A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Govern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5B28E-B7E1-4382-BC1F-CB7B82AA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C8550-5AB5-4C5A-A983-C122FECB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RBAC, redaction, and injection screening run before tool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4BD2E-CDA1-4C1F-85F4-6AB9A49F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84A1A-7C81-4A69-99C8-04425E53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Retrieve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F9B8D-2E0B-4CE7-8990-397E282D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EF21C-C2CC-452C-B8CC-FA38FEC2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BM25, TF-IDF, and LSA search 758 evidence chunks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9236D-06D8-4E93-9FCF-A5A61FC3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57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6BDD1-1A4E-4D8A-BE14-887457F5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3362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Reason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D8D05-FD6B-4FA2-8D36-B674F27D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765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635C9-4318-44A1-BC3D-222F903F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Specialized agents cite evidence or route the case to human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27F46-CB50-4776-9698-A3C1B8F2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Why this approach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01655-DBBD-42FE-A92A-6AB2D6B6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681"/>
          </a:bodyPr>
          <a:lstStyle xmlns:a="http://schemas.openxmlformats.org/drawingml/2006/main">
            <a:def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Conventional code handles repeatable controls. Agents handle evidence gathering, ambiguity, synthesis, and escalation.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13448-E5C9-4C82-94BA-D6CA637D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Method: deterministic controls, hybrid retrieval, gated agent graph, durable checkpoints, evidence-linked output</a:t>
            </a:r>
          </a:p>
        </p:txBody>
      </p:sp>
    </p:spTree>
    <p:extLst>
      <p:ext uri="{BB962C8B-B14F-4D97-AF65-F5344CB8AC3E}">
        <p14:creationId xmlns:p14="http://schemas.microsoft.com/office/powerpoint/2010/main" val="1678527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B6C7E-F85B-4606-9E72-3E5485A8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Reliability leads the field-aware taxonomy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C9897-01E7-44FC-9DD3-2DFFBBB7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Title intent receives more weight than incidental summary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52265-BF8F-4709-B1FA-A5425868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BB367-3D3A-4853-94F7-6AD71B42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D7B8741-9E59-4AF6-AA10-CE0B3AC5B83D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05c6d66057440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13D71-7E6F-4705-8189-C0B267DE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4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4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4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4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4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4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4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4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4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450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CEC89-89B0-4257-9E31-7D452DDA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765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meetings center on reliability and incident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E54EC-D819-4349-AE20-71F2A386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Their average sentiment is 2.47/5, the weakest large theme.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7B3ED-7013-48AD-BE0E-131856F0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Source: supplied transcript dataset; analysis by the included pipeline</a:t>
            </a:r>
          </a:p>
        </p:txBody>
      </p:sp>
    </p:spTree>
    <p:extLst>
      <p:ext uri="{BB962C8B-B14F-4D97-AF65-F5344CB8AC3E}">
        <p14:creationId xmlns:p14="http://schemas.microsoft.com/office/powerpoint/2010/main" val="1714414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5E9BA-DD56-433A-A2A1-F65A0332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Reliability issues cross team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0EAF8-652D-4A7B-A1D2-D82E1FA3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rPr>
              <a:t>The same problem class appears in internal response, customer support, and commercial conversations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D746A-20C5-4C3C-9C6F-7B1ED410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4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4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4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4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4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4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4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4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4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6336C-19AD-4115-8D80-A0AD65B3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Internal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93743-8894-40BF-99A0-B41E4A32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F9AB2-4F2A-4379-AB98-8DFED5C7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War rooms, root cause, sprint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ED2C9-161F-4E55-BBC8-BDC4B8E1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FB58D-E00C-41B7-91BD-05D78495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52625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4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4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4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4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4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4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4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4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4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ED668-A1FA-4766-B513-2D0EAC9B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FADF8-C595-44BE-B39D-8ED508CD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290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1431A-7FBE-4796-8ED7-C61A3BC0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147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Silent alerts, data gaps, dashboard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E7250-B830-455C-A1EA-7FA6F44C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76C74-9C53-4F13-B56F-75C2E678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48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48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48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48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48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48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48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48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48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1F6C1-2668-468E-B5AF-86F7238B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External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97454-CC50-4D48-8F6C-2CE9F577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C3686-BA69-4E31-852C-2AC5D9AC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Reliability reviews and renewal concerns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CF385-0481-4F97-8939-4D59FE15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07993-A72F-45D9-8857-AB1D177F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7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7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7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7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7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7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7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7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7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2.47/5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E8237-FD41-4270-9D8A-444BA29B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2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average sentiment across the reliability theme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AA4D4-6931-48A7-98E8-FBD005E4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Product opportunity: trace one incident across teams and accounts.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E60D06-E215-4BBB-9891-4BD45DC8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24 meetings classified under Reliability &amp; incidents; February 5-April 28, 2026</a:t>
            </a:r>
          </a:p>
        </p:txBody>
      </p:sp>
    </p:spTree>
    <p:extLst>
      <p:ext uri="{BB962C8B-B14F-4D97-AF65-F5344CB8AC3E}">
        <p14:creationId xmlns:p14="http://schemas.microsoft.com/office/powerpoint/2010/main" val="366526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5CE6B-043C-4FC0-AE42-FE93B827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Support sentiment trails by more than a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84AEE-4831-495E-A61A-3CB904E3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Meeting sentiment and utterance mix tell the same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DFB09-2DCD-49FF-A5DC-4CC535CC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56937-73CE-4894-98A8-1E6A127F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258C34D-591F-4356-84F3-4766380D41C7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5acd3e308f427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CEC5E-5A90-4002-B7E1-C9A27C4F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27.1%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4B7D6-BA39-495E-BC8C-EE7E5E4C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of support utterances are negative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1C0D0-3292-4A18-B569-804A6762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External: 9.5%</a:t>
            </a:r>
          </a:p>
          <a:p xmlns:a="http://schemas.openxmlformats.org/drawingml/2006/main">
            <a:pPr algn="l">
              <a:def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Internal: 16.9%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2A58F-5386-4F78-89DE-961D501E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482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464"/>
          </a:bodyPr>
          <a:lstStyle xmlns:a="http://schemas.openxmlformats.org/drawingml/2006/main">
            <a:def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A company-wide average would hide the customer pain concentrated in support.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67148-1D19-4521-8BD2-F4CADC55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Source: supplied transcript dataset; analysis by the included pipeline</a:t>
            </a:r>
          </a:p>
        </p:txBody>
      </p:sp>
    </p:spTree>
    <p:extLst>
      <p:ext uri="{BB962C8B-B14F-4D97-AF65-F5344CB8AC3E}">
        <p14:creationId xmlns:p14="http://schemas.microsoft.com/office/powerpoint/2010/main" val="7424298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AB2F8-E63D-4747-90ED-6D14A9C6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March is the shared low point; April rebounds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B837A-EAFE-4C6A-95DC-DB2023C8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Three monthly observations are directional, not a seasonal trend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59D40-F217-4851-9796-F872F4C9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C60AE-9F1A-42A8-84AC-D5243A4A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733739A-0DB9-4D94-9F89-05F6044B24A8}"/>
              </a:ext>
            </a:extLst>
          </p:cNvPr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8096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cd8705ded048a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E688F-63C8-4486-978F-DE145F5C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58"/>
          </a:bodyPr>
          <a:lstStyle xmlns:a="http://schemas.openxmlformats.org/drawingml/2006/main">
            <a:def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What March could indicate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33C94-D588-4EDB-9861-2B5C23B0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98"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The outage cluster affected both internal delivery work and customer conversations.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F34CF-A9B7-489F-AE8A-CF3FF46D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Validate with incident dates and a longer history before claiming causality.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7B30D-20D0-4844-A52D-B143765C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Source: supplied transcript dataset; analysis by the included pipeline</a:t>
            </a:r>
          </a:p>
        </p:txBody>
      </p:sp>
    </p:spTree>
    <p:extLst>
      <p:ext uri="{BB962C8B-B14F-4D97-AF65-F5344CB8AC3E}">
        <p14:creationId xmlns:p14="http://schemas.microsoft.com/office/powerpoint/2010/main" val="1123725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3F018-CE84-4470-9FB6-45222D53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Risk prioritization links technical evidence to customer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F56F8-6639-4CCB-9F35-D97F1C88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A review queue, not a churn probability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9F000-DC9B-4B13-BD44-24EB698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D22A9-A1C5-47E0-975A-7FE0FC59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8E9E3-E2A3-4E0E-9A53-9A9BEBC9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Risk 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A2AFB-D9F3-4701-B3E7-2B35701C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088"/>
          </a:bodyPr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Low sentiment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43EE7-556C-48E2-B11F-26A514E1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670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10365-6801-4DC7-94F7-B9042E2E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Churn signals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3D425-A70E-4753-8A80-25CB939D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2B63F-A5EB-4C7B-A1BA-226202C5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670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48"/>
          </a:bodyPr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Technical issues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96AF2-1705-4EE3-9B58-275CAAC9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03798-79D7-4C0F-8CFC-9EA91391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670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885"/>
          </a:bodyPr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Feature gaps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ECF79-758D-4F81-A874-61D77039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4776A-859D-4DCC-91B3-65FBBDDD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Positive pivots and praise reduce the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29C2A-CD30-4762-85A1-7C1ED582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>
            <a:def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10.0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1F7B0-8E60-401F-A29A-9E12A9A3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72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Trailhead Marketplace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8312C-A9E7-4AD4-802D-CFA6B248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48250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Silent alerts for 15+ hours; two churn signals across two meetings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DC0C7-DF4B-4688-BD1D-872E5BDC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>
            <a:def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9.0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D81CE-9ED7-41B4-A213-9CB7FEBC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72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Northstar Pharma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941CF-1073-4839-BC15-CA80D951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48250"/>
            <a:ext cx="328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Compliance exposure and zero threat visibility during the outage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6F338-F425-41D5-A0AB-7984005C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Heuristic capped at 10; always review the retained excerpt and transcript before action</a:t>
            </a:r>
          </a:p>
        </p:txBody>
      </p:sp>
    </p:spTree>
    <p:extLst>
      <p:ext uri="{BB962C8B-B14F-4D97-AF65-F5344CB8AC3E}">
        <p14:creationId xmlns:p14="http://schemas.microsoft.com/office/powerpoint/2010/main" val="14517261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10DBF-CE69-4BD5-B1B3-FB19FD5B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Sixteen accounts need evidence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86DA0-6873-4A0D-B93E-D0070709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Top accounts by maximum meeting-level risk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90AFE-BACA-4EA5-BD81-4491B2E7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F7664-E6A8-483E-A07C-65629460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992F213-2DB7-4BB2-A220-72EF53F60F80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8001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26016292c143c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B4A7D-A497-4A2C-BC9E-1A7DD363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Use this queue to inspect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9DEA6-157B-4EF5-8F77-1D483995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Transcript excerpts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B4114-3284-4FFE-81E1-11D5008A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Recent incident links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9EF0C-8CD8-4B4D-AE4A-0B0A6575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Renewal timing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5AD5A-D3F2-4E2A-B405-E8A5BE17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Unresolved commitments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30317-8077-4010-8167-2CEFD2EB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Do not treat the score as an automated renewal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25D16-42DE-4E3C-AC1D-6A73C8AF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Source: supplied transcript dataset; analysis by the included pipeline</a:t>
            </a:r>
          </a:p>
        </p:txBody>
      </p:sp>
    </p:spTree>
    <p:extLst>
      <p:ext uri="{BB962C8B-B14F-4D97-AF65-F5344CB8AC3E}">
        <p14:creationId xmlns:p14="http://schemas.microsoft.com/office/powerpoint/2010/main" val="13107424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E2C04D-843C-46AA-9E9A-3ED39895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Four product views extend beyond topic and sentiment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CB594-9608-496F-8746-AAB05A77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Each view ties transcript evidence to a stakeholder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3E7E9-88CC-421B-954D-8DB2521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FD47D-AC7F-46E5-B3A4-6CC33019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76D0F-DEE0-43E4-A764-F68D9F48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229C1-2D39-499F-B3D7-DD93354C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09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Account risk 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E8CAE-8E83-421E-A0C4-1CC97082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Customer success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63CC7-3071-4791-815A-8F0D43E6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97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Recurring issues, churn signals, feature gaps, renewal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7F7CF-5499-4494-84C2-117CC1D6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5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282A9-167C-48C2-85F3-C0E12C9C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F86C1-5F90-4544-AE38-16B2C214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765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Incident propagation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C8C3F-7FD5-455F-8AEB-E12E4AE8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Engineering and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69894-AF98-47DC-84AA-6843D1B5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Internal response linked to escalations and commercial follow-up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557CA-E095-4D00-BCA5-E97C3784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DF4D3-C430-40F1-87F8-40AFF420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1DF2C-9583-40A8-AF1F-A5EDC074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43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Commitment tracker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E10E3-DBBE-42A5-94C8-EE8F3270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Product and engineering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0434D-5610-44A5-B843-BBDB5EB7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433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397 action items with owners; add due dates and completion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9296E-E5A1-49A7-802A-BED82F1E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863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BAD71-6262-4C69-85A8-EC7F615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B9126-DCD6-418F-A34E-9C0637BA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101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181"/>
          </a:bodyPr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Voice-of-customer backlog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DB2C7-2B40-46AF-B495-C24E607D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101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Product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36C1F-AECA-43EB-8FAC-98E156DE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101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Feature gaps ranked by frequency, account risk, and customer segment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B8502-44C1-4620-856A-599F0CCD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531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AB47E-AC4E-46F8-99E9-2B6D165B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Source: supplied transcript dataset; analysis by the included pipeline</a:t>
            </a:r>
          </a:p>
        </p:txBody>
      </p:sp>
    </p:spTree>
    <p:extLst>
      <p:ext uri="{BB962C8B-B14F-4D97-AF65-F5344CB8AC3E}">
        <p14:creationId xmlns:p14="http://schemas.microsoft.com/office/powerpoint/2010/main" val="464228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6F729-924B-48DF-9601-3B6BA7E5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first release should close the loop from evidence to owner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37AB8-F309-4CDE-BC0D-FEBC95F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rPr>
              <a:t>A focused product slice for leadership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7BB7D-2348-4560-A50D-150B280D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A3356-593A-400A-8A47-1CA551E3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Meeting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4FB99-167A-4FC1-8A29-95F43B5C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95500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Searchable transcript, theme rationale, sentiment segments, action items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E2B11-D352-4808-B51C-2016697E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909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AB15C-A80B-4779-AFCA-9D818D39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D09A0-6F5F-4076-A801-05E7EEE1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147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Account 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A8DA0-A78C-4C66-A517-DE889CFB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14700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Cross-meeting risk, incidents, commitments, and renewal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FE4A9-FC64-4CF4-9DA6-1677BD7D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71950"/>
            <a:ext cx="909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6D686-FD5D-465F-8B7F-69422C95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59025-3D3C-4162-811D-AE0649DF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339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Theme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BC756-AAFB-424B-86F4-62E3193E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33900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Call-type trends, affected accounts, drill-down to source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E19BE-BDFA-4683-826C-A3FC8BB7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Success measure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B036D-3A60-41AC-B2C3-414105DA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055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Faster triage with evidence that leaders can 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151DA-A1E7-4C42-867B-E126D4D4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Recommendation based on the supplied dataset and prototype analysis</a:t>
            </a:r>
          </a:p>
        </p:txBody>
      </p:sp>
    </p:spTree>
    <p:extLst>
      <p:ext uri="{BB962C8B-B14F-4D97-AF65-F5344CB8AC3E}">
        <p14:creationId xmlns:p14="http://schemas.microsoft.com/office/powerpoint/2010/main" val="1572660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BB7EC-1504-48A0-981E-42D2EA88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What I would validate before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65180-3B7C-4AAF-B5E9-1AC127EF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The prototype establishes value; outcome data establishes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62C74-1F8A-442B-8363-10AB7303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E8A0A-7BBE-4322-8B6B-B4E86221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4AA23-BDC4-417F-B66D-E7ECFDC0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Human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B6E14-94E7-45F5-AFA8-A41770D1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FC336-0F4A-4A72-9792-2789C30D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Label a representative sample and measure call-type, theme, and sentiment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F4DE9-B7D8-4926-B21A-18D3EC17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Risk calibration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F2805-D0A7-4ADF-8360-1706E842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66975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CE78B-6528-4018-BB5A-17CCB26D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955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Compare scores with real renewals, escalations, incident severity, and account outcomes.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0F2B1-9CD4-4AE5-B9DF-BB873B3C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Operational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850FB-5D0C-4084-9DCF-FED2D423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0ECB6-CACD-4C4A-AD92-A81BA677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Add permissions, PII handling, retention rules, and evidence-level audit logs.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36C6E-062E-40A8-A117-7A1D55EA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Drift monitoring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E5778-DA36-4517-BD45-B377C9E6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A5F3E-74C0-4C80-B43D-E34F4105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Track new topics, vocabulary shifts, and performance by call type and customer segment.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A7E56-7077-41D7-8325-6A28532E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945"/>
          </a:bodyPr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Technical appendix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5ED99-1699-455B-A229-DB3759E1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864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Agent boundaries, architecture, evaluations, and deployment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90490-7EDA-4EA8-B7F8-EF4AF68D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Source: supplied transcript dataset; analysis by the included pipeline</a:t>
            </a:r>
          </a:p>
        </p:txBody>
      </p:sp>
    </p:spTree>
    <p:extLst>
      <p:ext uri="{BB962C8B-B14F-4D97-AF65-F5344CB8AC3E}">
        <p14:creationId xmlns:p14="http://schemas.microsoft.com/office/powerpoint/2010/main" val="1574833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3EF848-85F8-4B22-9810-433760DF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Agentic behavior starts where deterministic software stops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BE2C1-0945-4A80-90E1-16FA16A1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The architecture uses agents only when they improve the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CB890-ABCD-4816-8B71-C1A45107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87112-2151-4EDE-9584-EA82140C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64A3F-AE94-4D79-BB06-D215930D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Conventional software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AFA85-E1A1-44ED-AB45-3DE38B7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5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610D0-DE3F-4082-A5EF-9B9507DF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Parsing and schema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5D00E-DDEE-4C38-911D-5311D271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Authorization and account isolation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EE20F-13F1-491E-9106-C87641A2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PII redaction and audit logging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88549-07B5-4CF8-9D0D-0768D781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Bounded scores and lineage hashes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D67E9-584B-4E56-B6AA-079F0821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Why: low variance, low cost, easy regression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38A2F-8F00-470B-9589-89E8C7FB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097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8D375-7BBA-4DA1-B85A-D5834011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Agent 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B39DB-13A5-4B62-B541-A40AD8CE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1DEDD-1FEB-4177-97DC-01781AB8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Evidence gathering across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77EC9-057C-4C6E-A339-32C45ED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Ambiguous theme resolution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AD33B-39FD-4CED-AC40-43836CE1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Evidence-linked synthesis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86361-EAB5-40CA-97D5-7909D7EE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Human escalation and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E725F-F8F9-4C64-88DF-CA812FFB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Why: variable evidence and judgment require stateful orchestration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ADBB3-48C5-4CB9-9A91-E1B45C13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Design principle: agents must earn their added latency, cost, and failure modes</a:t>
            </a:r>
          </a:p>
        </p:txBody>
      </p:sp>
    </p:spTree>
    <p:extLst>
      <p:ext uri="{BB962C8B-B14F-4D97-AF65-F5344CB8AC3E}">
        <p14:creationId xmlns:p14="http://schemas.microsoft.com/office/powerpoint/2010/main" val="2104165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28F961-9122-4E85-8D3B-F7DF7F81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runtime is stateful, governed, and replayable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4B378-F096-45A5-98FE-D4AEDDE0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B9CBD9"/>
                </a:solidFill>
                <a:latin typeface="Avenir Next"/>
                <a:ea typeface="Avenir Next"/>
                <a:cs typeface="Avenir Next"/>
              </a:rPr>
              <a:t>Every node records a checkpoint, trace span, decision basis, and evidence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C6F13-7360-46FE-B35A-DEDF9EAE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E8588-98B5-4365-B405-6412C64F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Policy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47DEF-CE08-4365-B610-7C30E5FC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20811-DCD6-45DA-A9AA-C216D09B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RBAC</a:t>
            </a:r>
          </a:p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redaction</a:t>
            </a:r>
          </a:p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injection scan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73CDD-EA2B-4AAA-945D-D8F3BBA9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0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61098-6AAC-432F-B609-0273089E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05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25EBB-8D45-4D7A-92C4-99B653AC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52675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FF24E-3B0E-4F5D-BFC3-F2A57869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8956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B2FE7-4B3D-47A6-9D7D-95255796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90875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call type</a:t>
            </a:r>
          </a:p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field-weighted themes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5A938-F133-4222-8CCB-EA2A53AF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428875"/>
            <a:ext cx="190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56F79-A05B-41BF-A730-35A8F416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0F364-ECE8-46A1-83B5-494BC5D5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52675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Retrieve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98CA3-47B1-4774-8076-260BFC01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956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B5651-52A8-4B7B-A734-0ABE8365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90875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BM25</a:t>
            </a:r>
          </a:p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TF-IDF</a:t>
            </a:r>
          </a:p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64-dim LSA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BD84C-3E28-4F2C-A7E1-BA6C4AB1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28875"/>
            <a:ext cx="190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848D8-11C7-4DDA-851A-E989A181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905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28549-8E94-43B8-8485-20C2F71B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52675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E334E-DBD8-4FAA-A540-4FC28038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956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95F11-B3F4-48AE-A5F5-7E68A57D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190875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sentiment</a:t>
            </a:r>
          </a:p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churn signals</a:t>
            </a:r>
          </a:p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feature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F11F3E-F1C4-4ABD-84B7-F3683563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28875"/>
            <a:ext cx="190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8022CD-516A-4844-A99A-2F73E312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05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1A0920-44D4-4956-9DFA-51C73A59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52675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Synthesize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EC4F2-75CC-40DE-B418-B81AF4C5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956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C165F7-B9C1-4538-83F0-53EADEC4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90875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evidence IDs</a:t>
            </a:r>
          </a:p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lineage</a:t>
            </a:r>
          </a:p>
          <a:p xmlns:a="http://schemas.openxmlformats.org/drawingml/2006/main">
            <a:pPr algn="l">
              <a:def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E7F2"/>
                </a:solidFill>
                <a:latin typeface="Avenir Next"/>
                <a:ea typeface="Avenir Next"/>
                <a:cs typeface="Avenir Next"/>
              </a:rPr>
              <a:t>review route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B9BBF-A5C5-4E1C-ADD8-D67636BD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5C2FE-C752-48E1-9BA5-A665D524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Durable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BDB12B-6728-468B-B266-BF6461D2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25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SQLite checkpoints and feedback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98BFA0-BFA3-4F50-9B61-FA84351F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38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Observability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7A6E26-B063-4566-BEA4-B001B087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1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66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JSONL spans, latency, routing, errors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D76566-1EA1-4A1D-8902-EF672D0E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Audit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0B6E9C-558E-46BB-9411-CA4F388A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471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Hash-chained events and source hashes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DC72F2-E5B9-45DB-BB83-319B00C6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Framework-neutral core; optional LangGraph, OpenTelemetry, and LLM provider adapters</a:t>
            </a:r>
          </a:p>
        </p:txBody>
      </p:sp>
    </p:spTree>
    <p:extLst>
      <p:ext uri="{BB962C8B-B14F-4D97-AF65-F5344CB8AC3E}">
        <p14:creationId xmlns:p14="http://schemas.microsoft.com/office/powerpoint/2010/main" val="24936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4F97C-A7DE-4E6E-8FB8-45AC8CF4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Automated evaluation caught and fixed a real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5C598-D502-4017-9511-DC6CAF11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The build failed before the taxonomy change reached the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F7136-46A8-4473-B8EA-B45FE23B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488F4-1E8E-4BEB-8E1B-F6F9C836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BFF5B-2813-4753-910F-19BBA3F0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62.5%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3399F-E405-4649-8B2E-C09B65B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227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initial classification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A7EA1-098D-4D57-90B2-3A38C9BC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Summary vocabulary overpowered clear title intent in three golden cases.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C83E7-D539-497A-9C7D-86C3295C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AE674-BBB1-44D2-A6C9-972AD916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526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42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42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42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42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42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42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42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42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42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5E643-6BCA-4682-99BA-BD1A5032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after field-aware weighting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5F08F-E060-4360-8CAE-C8872F1E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76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The gate increased to 90%. The current golden set passes all 8 reviewed 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CF072-5138-4559-B1B1-31E0B590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E4480-9E68-4E02-B175-F7C91926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6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6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6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6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6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6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6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6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6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FFF9B-0FC9-4F45-BB65-28527154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337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retrieval and safety 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9D586-B26A-4FA0-8A29-0073CE46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766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Recall@3 100% (n=4)</a:t>
            </a:r>
          </a:p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Citation coverage 100%</a:t>
            </a:r>
          </a:p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PII, injection, RBAC, risk bounds, audit,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6B9BF-706D-4EB2-9DC0-51854C3D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FE649-5FE1-4C8E-8A86-99C2D845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Production requirement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85B0C-1AE6-4F59-BDB0-A80D68AA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76875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524"/>
          </a:bodyPr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Replace the small prototype set with domain-expert labels and outcome-linked tests.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62C04-6119-47D2-A4EE-DFD4F734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Evaluation output: analysis/advanced/eval_report.json; current prototype set n=8 classification, n=4 retrieval</a:t>
            </a:r>
          </a:p>
        </p:txBody>
      </p:sp>
    </p:spTree>
    <p:extLst>
      <p:ext uri="{BB962C8B-B14F-4D97-AF65-F5344CB8AC3E}">
        <p14:creationId xmlns:p14="http://schemas.microsoft.com/office/powerpoint/2010/main" val="4651558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64F894-6378-472E-B42F-F4855E48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The prototype includes the enterprise integration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5D472-C7C0-41A3-8764-2CF558C0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Governance, MCP tools, API controls, and deployment assets ship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B528C-643E-4C49-BEAB-A8344385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CDC3F-69C9-4957-80E1-C4C22D8D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75CBE-6A76-435B-A131-A15888B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MCP 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C1CB4-2DC6-45E3-8AB8-80D46A7E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Search transcripts, analyze meetings, submit human 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6CBC4-4665-4BED-8636-EDE9D883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14575"/>
            <a:ext cx="766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DA319-3AC1-4D12-841C-1E3D5F74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Authenticated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41B03-4F09-4EDB-8D91-72ADD2C8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8127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API-key demo uses roles and account scopes. Production uses OAuth2/OIDC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A7858-7188-439C-B2C3-38367F87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33725"/>
            <a:ext cx="766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C483C-95E4-440C-BAFF-916895D9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45B5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45B5B"/>
                </a:solidFill>
                <a:latin typeface="Avenir Next"/>
                <a:ea typeface="Avenir Next"/>
                <a:cs typeface="Avenir Next"/>
              </a:rPr>
              <a:t>Governance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659F4-E69A-483A-B412-3651131F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04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PII redaction, prompt-injection scan, evidence citations, lineage,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D708B-5FC0-4956-B7D4-F0C4FA35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52875"/>
            <a:ext cx="766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343A0-CD38-46FC-B12E-99F4BC7C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99CE7-717E-436A-8C39-E4DDCC01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1957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FastAPI, Docker, Kubernetes, health probes, resource limits, non-root runtime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8A0D7-03BD-429C-9CC8-7F99A84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72025"/>
            <a:ext cx="766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0E09E-2E8A-41D3-9A1D-B6C69086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F6BFF"/>
                </a:solidFill>
                <a:latin typeface="Avenir Next"/>
                <a:ea typeface="Avenir Next"/>
                <a:cs typeface="Avenir Next"/>
              </a:rPr>
              <a:t>Cost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A9F80-5591-474F-9C0F-E63A2A42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387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B3A"/>
                </a:solidFill>
                <a:latin typeface="Avenir Next"/>
                <a:ea typeface="Avenir Next"/>
                <a:cs typeface="Avenir Next"/>
              </a:rPr>
              <a:t>Deterministic default, model budget registry, caching and smaller-model routing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4A54B-2000-4072-9F2F-C5DB37B9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91175"/>
            <a:ext cx="766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E8582-65CB-40CC-B074-B98C1FF6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Questions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FAC21-D5B0-4F92-94D7-3EFF14F9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674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4CB5AE"/>
                </a:solidFill>
                <a:latin typeface="Avenir Next"/>
                <a:ea typeface="Avenir Next"/>
                <a:cs typeface="Avenir Next"/>
              </a:rPr>
              <a:t>The repository is ready for an architecture, code, or evaluation walkthrough.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48409-9D61-4B71-8D1F-09E1582B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87084"/>
                </a:solidFill>
                <a:latin typeface="Avenir Next"/>
                <a:ea typeface="Avenir Next"/>
                <a:cs typeface="Avenir Next"/>
              </a:rPr>
              <a:t>Source: supplied transcript dataset; analysis by the included pipeline</a:t>
            </a:r>
          </a:p>
        </p:txBody>
      </p:sp>
    </p:spTree>
    <p:extLst>
      <p:ext uri="{BB962C8B-B14F-4D97-AF65-F5344CB8AC3E}">
        <p14:creationId xmlns:p14="http://schemas.microsoft.com/office/powerpoint/2010/main" val="1241662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2026-10-27T21:56:26.0310000Z</dcterms:created>
  <dcterms:modified xsi:type="dcterms:W3CDTF">2026-10-27T21:56:26.0310000Z</dcterms:modified>
</coreProperties>
</file>